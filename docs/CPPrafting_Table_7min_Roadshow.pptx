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3fc60ca3384628" /><Relationship Type="http://schemas.openxmlformats.org/officeDocument/2006/relationships/extended-properties" Target="/docProps/app.xml" Id="R4aced20662324bdc" /><Relationship Type="http://schemas.openxmlformats.org/officeDocument/2006/relationships/officeDocument" Target="/ppt/presentation.xml" Id="R36e1b81a3d1c4f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136e68824f4c19"/>
  </p:sldMasterIdLst>
  <p:notesMasterIdLst>
    <p:notesMasterId xmlns:r="http://schemas.openxmlformats.org/officeDocument/2006/relationships" r:id="R2a578b59230e4ef6"/>
  </p:notesMasterIdLst>
  <p:sldIdLst>
    <p:sldId xmlns:r="http://schemas.openxmlformats.org/officeDocument/2006/relationships" id="256" r:id="R88201a8fc0664a78"/>
    <p:sldId xmlns:r="http://schemas.openxmlformats.org/officeDocument/2006/relationships" id="257" r:id="R0687dbd360644fe6"/>
    <p:sldId xmlns:r="http://schemas.openxmlformats.org/officeDocument/2006/relationships" id="258" r:id="R34858907c8394708"/>
    <p:sldId xmlns:r="http://schemas.openxmlformats.org/officeDocument/2006/relationships" id="259" r:id="R7c794da3959f4eb6"/>
    <p:sldId xmlns:r="http://schemas.openxmlformats.org/officeDocument/2006/relationships" id="260" r:id="R87a8a384c31b4fa4"/>
    <p:sldId xmlns:r="http://schemas.openxmlformats.org/officeDocument/2006/relationships" id="261" r:id="R9b858c18a8a94626"/>
    <p:sldId xmlns:r="http://schemas.openxmlformats.org/officeDocument/2006/relationships" id="262" r:id="Ref00aea977d540e0"/>
    <p:sldId xmlns:r="http://schemas.openxmlformats.org/officeDocument/2006/relationships" id="263" r:id="R8749e4dfe78c4155"/>
    <p:sldId xmlns:r="http://schemas.openxmlformats.org/officeDocument/2006/relationships" id="264" r:id="Rb3417547f7ae4e7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bb56163b6b49f1" /><Relationship Type="http://schemas.openxmlformats.org/officeDocument/2006/relationships/slideMaster" Target="/ppt/slideMasters/slideMaster1.xml" Id="Raa136e68824f4c19" /><Relationship Type="http://schemas.openxmlformats.org/officeDocument/2006/relationships/notesMaster" Target="/ppt/notesMasters/notesMaster1.xml" Id="R2a578b59230e4ef6" /><Relationship Type="http://schemas.openxmlformats.org/officeDocument/2006/relationships/presProps" Target="/ppt/presProps.xml" Id="R47656e5ca6554393" /><Relationship Type="http://schemas.openxmlformats.org/officeDocument/2006/relationships/viewProps" Target="/ppt/viewProps.xml" Id="Ra8ffdb72bd9c459a" /><Relationship Type="http://schemas.openxmlformats.org/officeDocument/2006/relationships/tableStyles" Target="/ppt/tableStyles.xml" Id="R9830dc24f5714c39" /><Relationship Type="http://schemas.openxmlformats.org/officeDocument/2006/relationships/slide" Target="/ppt/slides/slide1.xml" Id="R88201a8fc0664a78" /><Relationship Type="http://schemas.openxmlformats.org/officeDocument/2006/relationships/slide" Target="/ppt/slides/slide2.xml" Id="R0687dbd360644fe6" /><Relationship Type="http://schemas.openxmlformats.org/officeDocument/2006/relationships/slide" Target="/ppt/slides/slide3.xml" Id="R34858907c8394708" /><Relationship Type="http://schemas.openxmlformats.org/officeDocument/2006/relationships/slide" Target="/ppt/slides/slide4.xml" Id="R7c794da3959f4eb6" /><Relationship Type="http://schemas.openxmlformats.org/officeDocument/2006/relationships/slide" Target="/ppt/slides/slide5.xml" Id="R87a8a384c31b4fa4" /><Relationship Type="http://schemas.openxmlformats.org/officeDocument/2006/relationships/slide" Target="/ppt/slides/slide6.xml" Id="R9b858c18a8a94626" /><Relationship Type="http://schemas.openxmlformats.org/officeDocument/2006/relationships/slide" Target="/ppt/slides/slide7.xml" Id="Ref00aea977d540e0" /><Relationship Type="http://schemas.openxmlformats.org/officeDocument/2006/relationships/slide" Target="/ppt/slides/slide8.xml" Id="R8749e4dfe78c4155" /><Relationship Type="http://schemas.openxmlformats.org/officeDocument/2006/relationships/slide" Target="/ppt/slides/slide9.xml" Id="Rb3417547f7ae4e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2209eab7ded4a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1c612ad9114247" /><Relationship Type="http://schemas.openxmlformats.org/officeDocument/2006/relationships/notesMaster" Target="/ppt/notesMasters/notesMaster1.xml" Id="Rd6aca735ccf345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92d85bfcf9456b" /><Relationship Type="http://schemas.openxmlformats.org/officeDocument/2006/relationships/notesMaster" Target="/ppt/notesMasters/notesMaster1.xml" Id="Rbb7ac505a6bc47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7b5c1652d8482c" /><Relationship Type="http://schemas.openxmlformats.org/officeDocument/2006/relationships/notesMaster" Target="/ppt/notesMasters/notesMaster1.xml" Id="R76895dc77bb94d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98d0b05032439d" /><Relationship Type="http://schemas.openxmlformats.org/officeDocument/2006/relationships/notesMaster" Target="/ppt/notesMasters/notesMaster1.xml" Id="Rb3bd4018f9eb43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9d60efef3d4c6f" /><Relationship Type="http://schemas.openxmlformats.org/officeDocument/2006/relationships/notesMaster" Target="/ppt/notesMasters/notesMaster1.xml" Id="R46c49ce0443948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3a1e79f0fe45fd" /><Relationship Type="http://schemas.openxmlformats.org/officeDocument/2006/relationships/notesMaster" Target="/ppt/notesMasters/notesMaster1.xml" Id="R9a717121f87e46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f6a33ebbe149d9" /><Relationship Type="http://schemas.openxmlformats.org/officeDocument/2006/relationships/notesMaster" Target="/ppt/notesMasters/notesMaster1.xml" Id="R1fdb84dab58d4a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4179833f6349a5" /><Relationship Type="http://schemas.openxmlformats.org/officeDocument/2006/relationships/notesMaster" Target="/ppt/notesMasters/notesMaster1.xml" Id="R2440dd82d65644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5a6568dc084405" /><Relationship Type="http://schemas.openxmlformats.org/officeDocument/2006/relationships/notesMaster" Target="/ppt/notesMasters/notesMaster1.xml" Id="R36cdda9993bf4d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db0ea1d3fb424d" /><Relationship Type="http://schemas.openxmlformats.org/officeDocument/2006/relationships/theme" Target="/ppt/theme/theme1.xml" Id="R90e2dd1c2d8946a0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db0ea1d3fb424d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74f7d971f4f23" /><Relationship Type="http://schemas.openxmlformats.org/officeDocument/2006/relationships/notesSlide" Target="/ppt/notesSlides/notesSlide1.xml" Id="R1e24bb57725449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ad65fb86b44d6" /><Relationship Type="http://schemas.openxmlformats.org/officeDocument/2006/relationships/notesSlide" Target="/ppt/notesSlides/notesSlide2.xml" Id="Rbf1ebac76ceb4f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1a7436e654409" /><Relationship Type="http://schemas.openxmlformats.org/officeDocument/2006/relationships/notesSlide" Target="/ppt/notesSlides/notesSlide3.xml" Id="R3980094ea93c4a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794aed956438e" /><Relationship Type="http://schemas.openxmlformats.org/officeDocument/2006/relationships/notesSlide" Target="/ppt/notesSlides/notesSlide4.xml" Id="R943dfa2cae4349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c6e3e2a944b62" /><Relationship Type="http://schemas.openxmlformats.org/officeDocument/2006/relationships/notesSlide" Target="/ppt/notesSlides/notesSlide5.xml" Id="R3080e617ca8d4d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91d33a2954d5b" /><Relationship Type="http://schemas.openxmlformats.org/officeDocument/2006/relationships/notesSlide" Target="/ppt/notesSlides/notesSlide6.xml" Id="R38f80afe154d43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4286d0de34c20" /><Relationship Type="http://schemas.openxmlformats.org/officeDocument/2006/relationships/notesSlide" Target="/ppt/notesSlides/notesSlide7.xml" Id="R518254742a2049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59eb6ff4942ba" /><Relationship Type="http://schemas.openxmlformats.org/officeDocument/2006/relationships/notesSlide" Target="/ppt/notesSlides/notesSlide8.xml" Id="Rfbe5fddcfabf42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fe79123f5c4643" /><Relationship Type="http://schemas.openxmlformats.org/officeDocument/2006/relationships/notesSlide" Target="/ppt/notesSlides/notesSlide9.xml" Id="Rf27ba89d3c474f8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6BB9EA-1364-4EB5-99EF-9E8B5463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6E3667-E35D-4B53-A347-BB26F113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6AB648-5BD1-4613-AD14-F76C871B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58E06E-09E5-4DBD-A1D2-AEE4EDB3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3D9EE-E527-4911-827B-309E767E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6D0E5-8211-4947-8A64-DD490C2D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8F95A1-C71C-4001-81FA-12084783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C7AD8C-BFC3-4BE0-AEB9-5DEA857F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72FCCF-9A53-43F0-AED1-21C7A942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BC18AB-1BE3-4D0C-9EA4-AF9790C3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C9B0"/>
          </a:solidFill>
          <a:ln xmlns:a="http://schemas.openxmlformats.org/drawingml/2006/main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6FCCAE-5AE1-4112-9DC7-687087B4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9B0"/>
                </a:solidFill>
                <a:latin typeface="PingFang SC"/>
                <a:ea typeface="PingFang SC"/>
                <a:cs typeface="PingFang SC"/>
              </a:defRPr>
            </a:pPr>
            <a:r>
              <a:t>OPENING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BCC029-E486-4B94-89CE-614EB6B6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763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C++工作台把 AI 解释接入一个更完整的学习流程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71F68B-2421-423A-9ACC-226047A3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838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核心理念：实用至上，用户体验至上。AI 负责分析，应用负责把结果变成可交互、可沉淀的学习过程。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F659E1-B316-4A16-9E52-D2AC282F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47625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10161F"/>
          </a:solidFill>
          <a:ln xmlns:a="http://schemas.openxmlformats.org/drawingml/2006/main" w="9525">
            <a:solidFill>
              <a:srgbClr val="2E35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74BFD-DDC7-4C10-839D-DDA71927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266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纯聊天式 AI 的不足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5EDD4E-892F-49AC-B0A6-17C25B95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00400"/>
            <a:ext cx="3429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提示词繁琐</a:t>
            </a:r>
          </a:p>
          <a:p xmlns:a="http://schemas.openxmlformats.org/drawingml/2006/main">
            <a:pPr algn="l">
              <a:defRPr sz="1650" b="1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长期记忆弱</a:t>
            </a:r>
          </a:p>
          <a:p xmlns:a="http://schemas.openxmlformats.org/drawingml/2006/main">
            <a:pPr algn="l">
              <a:defRPr sz="1650" b="1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文本解释不够直观</a:t>
            </a:r>
          </a:p>
          <a:p xmlns:a="http://schemas.openxmlformats.org/drawingml/2006/main">
            <a:pPr algn="l">
              <a:defRPr sz="1650" b="1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交互效率依赖反复追问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884E84-ED2F-4650-A8B0-FD847897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0505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161F"/>
          </a:solidFill>
          <a:ln xmlns:a="http://schemas.openxmlformats.org/drawingml/2006/main" w="9525">
            <a:solidFill>
              <a:srgbClr val="2E35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E67AD7-C3B2-4021-BE31-36705A29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95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9CD6"/>
          </a:solidFill>
          <a:ln xmlns:a="http://schemas.openxmlformats.org/drawingml/2006/main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179DCF-7AE5-4EAD-907D-6CB5B8BE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95550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D98D6B-9149-40EB-AAE2-72343E93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38400"/>
            <a:ext cx="2933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可视化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D7E6A6-6170-4708-8020-A4BA5AF5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43200"/>
            <a:ext cx="2933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把变量、堆栈、指针和对象关系画出来。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8A53D1-F960-4392-BDA4-5F4A4C4F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7185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161F"/>
          </a:solidFill>
          <a:ln xmlns:a="http://schemas.openxmlformats.org/drawingml/2006/main" w="9525">
            <a:solidFill>
              <a:srgbClr val="2E354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56C4C5-FFAB-4658-BE5B-12A28BE6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62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C9B0"/>
          </a:solidFill>
          <a:ln xmlns:a="http://schemas.openxmlformats.org/drawingml/2006/main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62861C-6306-410C-A8F4-B166C41C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62350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93ACAC-BFF7-4685-A503-C2E4244D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05200"/>
            <a:ext cx="2933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可持续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92D616-5AE1-4C38-A8AC-E8DFDA5C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0000"/>
            <a:ext cx="2933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错题、知识点和复习频率保存在本地。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8EB245-8051-44F9-AD51-4B07952C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3865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161F"/>
          </a:solidFill>
          <a:ln xmlns:a="http://schemas.openxmlformats.org/drawingml/2006/main" w="9525">
            <a:solidFill>
              <a:srgbClr val="2E354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247846-240A-4299-8376-7631F67E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29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E9178"/>
          </a:solidFill>
          <a:ln xmlns:a="http://schemas.openxmlformats.org/drawingml/2006/main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27CD8A-C614-4653-8F90-3559140B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29150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13E290-D03D-4F79-B856-5966D7E2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72000"/>
            <a:ext cx="2933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可循环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F81FA1-03AE-4A8D-8E82-67B1E07B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76800"/>
            <a:ext cx="2933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OJ、文件、知识库都能回到复习流程。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B1127F-AEA8-4822-9C46-0F0AEBAF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00600"/>
            <a:ext cx="2476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0161F"/>
          </a:solidFill>
          <a:ln xmlns:a="http://schemas.openxmlformats.org/drawingml/2006/main" w="9525">
            <a:solidFill>
              <a:srgbClr val="569CD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682D3D-74BA-405D-96A7-C724502C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95850"/>
            <a:ext cx="2133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69CD6"/>
                </a:solidFill>
                <a:latin typeface="PingFang SC"/>
                <a:ea typeface="PingFang SC"/>
                <a:cs typeface="PingFang SC"/>
              </a:defRPr>
            </a:pPr>
            <a:r>
              <a:t>目标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A4702E-2556-45AF-9441-78C600DF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57800"/>
            <a:ext cx="2133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把一次回答变成学习体验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3500F3-1D45-434B-B9AE-78687193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800600"/>
            <a:ext cx="3009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0161F"/>
          </a:solidFill>
          <a:ln xmlns:a="http://schemas.openxmlformats.org/drawingml/2006/main" w="9525">
            <a:solidFill>
              <a:srgbClr val="CE917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B98B69-A003-4636-9CE0-A079F374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895850"/>
            <a:ext cx="266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E9178"/>
                </a:solidFill>
                <a:latin typeface="PingFang SC"/>
                <a:ea typeface="PingFang SC"/>
                <a:cs typeface="PingFang SC"/>
              </a:defRPr>
            </a:pPr>
            <a:r>
              <a:t>路径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556BE0-E1E9-491A-BD03-2A9D0BFD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25780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代码运行 + 内存画布 + 复习闭环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F9DD41-631B-43E4-8E82-91ADF018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62600"/>
            <a:ext cx="9258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161F"/>
          </a:solidFill>
          <a:ln xmlns:a="http://schemas.openxmlformats.org/drawingml/2006/main" w="9525">
            <a:solidFill>
              <a:srgbClr val="2E354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71E2DF-5634-4A98-946C-FCA120E9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7912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C9B0"/>
          </a:solidFill>
          <a:ln xmlns:a="http://schemas.openxmlformats.org/drawingml/2006/main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5066F4-0A40-4463-9CC6-7E29FE55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69595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这不是和 AI 对立，而是把 AI 放进更适合学习的交互界面。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7CB937-159E-40A5-B25D-37F48A58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3890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7784"/>
                </a:solidFill>
                <a:latin typeface="PingFang SC"/>
                <a:ea typeface="PingFang SC"/>
                <a:cs typeface="PingFang SC"/>
              </a:defRPr>
            </a:pPr>
            <a:r>
              <a:t>C++工作台 · 01/09</a:t>
            </a:r>
          </a:p>
        </p:txBody>
      </p:sp>
    </p:spTree>
    <p:extLst>
      <p:ext uri="{BB962C8B-B14F-4D97-AF65-F5344CB8AC3E}">
        <p14:creationId xmlns:p14="http://schemas.microsoft.com/office/powerpoint/2010/main" val="7983881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A21FE0-0541-4F7A-9F10-7B2E757E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AC9D13-5264-4870-AE15-697EDAA4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3DAC00-05D1-43B1-838A-81BF45AC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8B550-748F-4A89-81CF-2595FFD4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5469F-9F7C-4F4A-8B4A-037D0778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A37C5E-F02D-4D33-83BB-96E93FA8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750F02-B4E8-41B4-9B7F-E0023581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FC7687-2918-4E69-BAA6-F3E50F84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4C16EC-A86C-45DE-8F31-BCBBA62B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06A077-5B60-4106-AC94-331E4703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9178"/>
          </a:solidFill>
          <a:ln xmlns:a="http://schemas.openxmlformats.org/drawingml/2006/main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77114E-C46B-4FDD-B7A3-17611372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E9178"/>
                </a:solidFill>
                <a:latin typeface="PingFang SC"/>
                <a:ea typeface="PingFang SC"/>
                <a:cs typeface="PingFang SC"/>
              </a:defRPr>
            </a:pPr>
            <a:r>
              <a:t>PRODUCT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2BFB9-BBA0-43FB-AFCF-F328CBC1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953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学习链路被整理成“输入、理解、看见、循环”四步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E77E9E-3B76-4C6B-9E14-9583C4F6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838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AI 的能力不只停留在问答里，而是贯穿代码、题目、文件和复习记录。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BCF438-19A9-4B8B-A22F-8ABBEA61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21526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0161F"/>
          </a:solidFill>
          <a:ln xmlns:a="http://schemas.openxmlformats.org/drawingml/2006/main" w="14288">
            <a:solidFill>
              <a:srgbClr val="569C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C3E150-7AE7-4866-8D6B-69A0B5D9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9CD6"/>
                </a:solidFill>
                <a:latin typeface="PingFang SC"/>
                <a:ea typeface="PingFang SC"/>
                <a:cs typeface="PingFang SC"/>
              </a:defRPr>
            </a:pPr>
            <a:r>
              <a:t>01 INPUT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B7F4D6-1F5D-455F-8263-FFD290EF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输入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FAB24C-D168-4D1F-9D4E-F56AE4AE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6710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代码、OJ 题面、课件、作业文件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1AA6A6-53EE-4684-AA5A-6D4849C1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24150"/>
            <a:ext cx="21526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0161F"/>
          </a:solidFill>
          <a:ln xmlns:a="http://schemas.openxmlformats.org/drawingml/2006/main" w="14288">
            <a:solidFill>
              <a:srgbClr val="CE917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3C7484-56BF-45E4-89D5-9AB1CBFD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5750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E9178"/>
                </a:solidFill>
                <a:latin typeface="PingFang SC"/>
                <a:ea typeface="PingFang SC"/>
                <a:cs typeface="PingFang SC"/>
              </a:defRPr>
            </a:pPr>
            <a:r>
              <a:t>02 ANALYZE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4C93A5-4577-4A55-8089-EAFCA215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2420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理解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BEDCC9-0A1A-405A-9B94-CD4D1E49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6710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提取思路、知识点、示例代码和练习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35E3E7-3A1B-4E75-89D6-A57D7E7B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24150"/>
            <a:ext cx="21526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0161F"/>
          </a:solidFill>
          <a:ln xmlns:a="http://schemas.openxmlformats.org/drawingml/2006/main" w="14288">
            <a:solidFill>
              <a:srgbClr val="4EC9B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9E2BC9-56FA-45A4-A551-0CA5564F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5750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9B0"/>
                </a:solidFill>
                <a:latin typeface="PingFang SC"/>
                <a:ea typeface="PingFang SC"/>
                <a:cs typeface="PingFang SC"/>
              </a:defRPr>
            </a:pPr>
            <a:r>
              <a:t>03 VISUALIZE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C1698C-0A1A-4C35-A5FE-7ABD0CE6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2420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看见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5F1F65-DB78-49E2-B1AE-ADAD8DCD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6710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在画布中查看内存状态和引用关系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2BE891-56E3-4EA7-9EB4-A9AA8E62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24150"/>
            <a:ext cx="21526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0161F"/>
          </a:solidFill>
          <a:ln xmlns:a="http://schemas.openxmlformats.org/drawingml/2006/main" w="14288">
            <a:solidFill>
              <a:srgbClr val="FFD1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8F2887-C0C5-4FC2-897A-49906540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5750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PingFang SC"/>
                <a:ea typeface="PingFang SC"/>
                <a:cs typeface="PingFang SC"/>
              </a:defRPr>
            </a:pPr>
            <a:r>
              <a:t>04 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670D93-569F-464D-BB5C-2D33F620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2420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循环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F83BC0-9F74-4073-909C-57C321F4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6710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错题与知识点进入长期复习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265212-E02D-40B7-8C8A-A9AB4E20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90888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4B2"/>
          </a:solidFill>
          <a:ln xmlns:a="http://schemas.openxmlformats.org/drawingml/2006/main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803736-4281-4B8F-944E-3D8433CC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257550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9AA4B2"/>
          </a:solidFill>
          <a:ln xmlns:a="http://schemas.openxmlformats.org/drawingml/2006/main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DDDC4B-4CD5-44CD-ADF4-3EF922EB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290888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4B2"/>
          </a:solidFill>
          <a:ln xmlns:a="http://schemas.openxmlformats.org/drawingml/2006/main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ABD66A-831B-46B1-82B0-B220A5A7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257550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9AA4B2"/>
          </a:solidFill>
          <a:ln xmlns:a="http://schemas.openxmlformats.org/drawingml/2006/main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DE5810-88FC-42B8-BBF3-44D9A232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90888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4B2"/>
          </a:solidFill>
          <a:ln xmlns:a="http://schemas.openxmlformats.org/drawingml/2006/main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B33C6B-A10C-4B30-AB24-A4E69E6B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257550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9AA4B2"/>
          </a:solidFill>
          <a:ln xmlns:a="http://schemas.openxmlformats.org/drawingml/2006/main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66DF13-70C2-4F23-AA89-BA61EA8F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62600"/>
            <a:ext cx="9258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161F"/>
          </a:solidFill>
          <a:ln xmlns:a="http://schemas.openxmlformats.org/drawingml/2006/main" w="9525">
            <a:solidFill>
              <a:srgbClr val="2E354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6D7BD1-BD76-4A1E-A6D3-0FC15741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7912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9178"/>
          </a:solidFill>
          <a:ln xmlns:a="http://schemas.openxmlformats.org/drawingml/2006/main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2F5F17-5109-4E41-B6BD-EF656706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69595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和普通问答不同，C++工作台把每次学习都连接到下一次复习。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05BFEC-4750-4D2B-9E4B-D10D707C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3890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7784"/>
                </a:solidFill>
                <a:latin typeface="PingFang SC"/>
                <a:ea typeface="PingFang SC"/>
                <a:cs typeface="PingFang SC"/>
              </a:defRPr>
            </a:pPr>
            <a:r>
              <a:t>C++工作台 · 02/09</a:t>
            </a:r>
          </a:p>
        </p:txBody>
      </p:sp>
    </p:spTree>
    <p:extLst>
      <p:ext uri="{BB962C8B-B14F-4D97-AF65-F5344CB8AC3E}">
        <p14:creationId xmlns:p14="http://schemas.microsoft.com/office/powerpoint/2010/main" val="104318090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BFE470-5F26-4612-9FBA-9F8AC09D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644C72-B9D2-4AE3-9B8C-9E879417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0EB0FE-F52F-441F-AB2D-1EC0BE09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3386EF-B350-41A1-B7EF-AE37B4FA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B1A5D-F62F-47EF-AF57-33897657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D3FABE-36AB-4400-8286-674EC031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17220-9AE4-417A-94A9-2E2E563E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DC6ECB-529F-45F1-8EFF-42BA6D1A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07F1A5-067C-4D24-B500-A5FD826E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4C52A-1AED-453E-AC2C-3939578C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9CD6"/>
          </a:solidFill>
          <a:ln xmlns:a="http://schemas.openxmlformats.org/drawingml/2006/main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8F3F3B-AA55-460F-BFB6-6AE82D62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9CD6"/>
                </a:solidFill>
                <a:latin typeface="PingFang SC"/>
                <a:ea typeface="PingFang SC"/>
                <a:cs typeface="PingFang SC"/>
              </a:defRPr>
            </a:pPr>
            <a:r>
              <a:t>BASIC GUI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61171A-F571-492A-900F-18CCC1BE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572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主界面先解决使用门槛，再把学习进度放在眼前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2A9FEB-C65B-48CE-8E27-2BC550B5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838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路演开始只需要快速展示：进入首页、查看统计、打开设置并完成 AI 配置。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E122E1-A8DF-4D25-B398-5DEBAABD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25908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21722"/>
          </a:solidFill>
          <a:ln xmlns:a="http://schemas.openxmlformats.org/drawingml/2006/main" w="14288">
            <a:solidFill>
              <a:srgbClr val="569C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4B5194-A395-46EF-B56A-1426E77D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2247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9CD6"/>
                </a:solidFill>
                <a:latin typeface="PingFang SC"/>
                <a:ea typeface="PingFang SC"/>
                <a:cs typeface="PingFang SC"/>
              </a:defRPr>
            </a:pPr>
            <a:r>
              <a:t>首页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2C6F5B-CB07-494C-8DAF-81950F6D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800"/>
            <a:ext cx="2247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展示学习进度、最近活动和常用入口。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7C50ED-37AE-4A52-8035-F01C0E89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419350"/>
            <a:ext cx="25908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21722"/>
          </a:solidFill>
          <a:ln xmlns:a="http://schemas.openxmlformats.org/drawingml/2006/main" w="14288">
            <a:solidFill>
              <a:srgbClr val="CE917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099CFE-63F6-44B1-BCEF-E58FAAE1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571750"/>
            <a:ext cx="2247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E9178"/>
                </a:solidFill>
                <a:latin typeface="PingFang SC"/>
                <a:ea typeface="PingFang SC"/>
                <a:cs typeface="PingFang SC"/>
              </a:defRPr>
            </a:pPr>
            <a:r>
              <a:t>设置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1603BB-5D3D-46C2-B32F-C15C774A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971800"/>
            <a:ext cx="2247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配置 AI 服务、模型和 API Key；首次填写后长期有效。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FA4EE1-8201-4AEF-9E4E-A93BDA60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19350"/>
            <a:ext cx="25908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21722"/>
          </a:solidFill>
          <a:ln xmlns:a="http://schemas.openxmlformats.org/drawingml/2006/main" w="14288">
            <a:solidFill>
              <a:srgbClr val="4EC9B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7EA1DB-54C5-4175-8B3F-189AE606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71750"/>
            <a:ext cx="2247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C9B0"/>
                </a:solidFill>
                <a:latin typeface="PingFang SC"/>
                <a:ea typeface="PingFang SC"/>
                <a:cs typeface="PingFang SC"/>
              </a:defRPr>
            </a:pPr>
            <a:r>
              <a:t>视觉风格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6734DB-4F56-4BE4-870A-D6EC6F72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71800"/>
            <a:ext cx="2247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深色界面适合长时间阅读代码，后续可扩展极简风格。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84B1FC-5465-4D8D-AAC5-9B3FB955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33850"/>
            <a:ext cx="219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0161F"/>
          </a:solidFill>
          <a:ln xmlns:a="http://schemas.openxmlformats.org/drawingml/2006/main" w="9525">
            <a:solidFill>
              <a:srgbClr val="CE91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86D6E3-9E50-459C-B7BA-CCFB0C6F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29100"/>
            <a:ext cx="1847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E9178"/>
                </a:solidFill>
                <a:latin typeface="PingFang SC"/>
                <a:ea typeface="PingFang SC"/>
                <a:cs typeface="PingFang SC"/>
              </a:defRPr>
            </a:pPr>
            <a:r>
              <a:t>多模型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9EDC0A-8221-43D9-AEDA-6F20610A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91050"/>
            <a:ext cx="1847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可配置不同 AI 服务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CF4AD5-E819-43C4-B354-EFAAADEF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133850"/>
            <a:ext cx="2343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0161F"/>
          </a:solidFill>
          <a:ln xmlns:a="http://schemas.openxmlformats.org/drawingml/2006/main" w="9525">
            <a:solidFill>
              <a:srgbClr val="4EC9B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9ACC9B-D942-4C89-8D67-1868AB82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29100"/>
            <a:ext cx="2000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EC9B0"/>
                </a:solidFill>
                <a:latin typeface="PingFang SC"/>
                <a:ea typeface="PingFang SC"/>
                <a:cs typeface="PingFang SC"/>
              </a:defRPr>
            </a:pPr>
            <a:r>
              <a:t>本地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425C9E-FE79-4304-A7C8-31094922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91050"/>
            <a:ext cx="2000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学习记录保存在 data/user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FB7C7D-606B-43AE-BFD3-70A1D8EA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19550"/>
            <a:ext cx="3467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161F"/>
          </a:solidFill>
          <a:ln xmlns:a="http://schemas.openxmlformats.org/drawingml/2006/main" w="9525">
            <a:solidFill>
              <a:srgbClr val="2E354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0A2B2F-D31E-419A-86B4-52894920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210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9CD6"/>
          </a:solidFill>
          <a:ln xmlns:a="http://schemas.openxmlformats.org/drawingml/2006/main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304755-22B1-4F26-97DE-C4A7AAF4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210050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t>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F97BEF-3E80-4698-B0E6-76EB3A34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52900"/>
            <a:ext cx="2686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可长期使用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3F4AE7-1C9B-4484-8C4B-83A7FCC6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457700"/>
            <a:ext cx="2686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配置、统计和入口都围绕日常学习组织。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D2B2CD-719D-45F8-A0C0-DF98C45A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62600"/>
            <a:ext cx="9258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161F"/>
          </a:solidFill>
          <a:ln xmlns:a="http://schemas.openxmlformats.org/drawingml/2006/main" w="9525">
            <a:solidFill>
              <a:srgbClr val="2E354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795DF5-B6AE-442A-AC91-F07C522A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7912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9CD6"/>
          </a:solidFill>
          <a:ln xmlns:a="http://schemas.openxmlformats.org/drawingml/2006/main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AC57A1-09A7-4A5C-8849-D48D2B20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69595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主界面不是重点停留页，它承担的是低门槛启动和学习状态反馈。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11E5A8-045C-4A19-BC72-F43AE471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3890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7784"/>
                </a:solidFill>
                <a:latin typeface="PingFang SC"/>
                <a:ea typeface="PingFang SC"/>
                <a:cs typeface="PingFang SC"/>
              </a:defRPr>
            </a:pPr>
            <a:r>
              <a:t>C++工作台 · 03/09</a:t>
            </a:r>
          </a:p>
        </p:txBody>
      </p:sp>
    </p:spTree>
    <p:extLst>
      <p:ext uri="{BB962C8B-B14F-4D97-AF65-F5344CB8AC3E}">
        <p14:creationId xmlns:p14="http://schemas.microsoft.com/office/powerpoint/2010/main" val="61639972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92534C-20C9-42EB-9495-2EA8759D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AF82B3-CB6E-4107-B862-1672AE52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95157-656F-45DB-BF75-86206058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8C470-7794-43F5-8EDF-B9E592EB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669EC-94AD-4268-A8FE-BB19F379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0024A-F0A0-4054-A4A4-2B437C2A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CB8B4-6966-4820-A1CC-05364592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4CF69B-3F18-4F33-B3DB-8B528B13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8F2E1A-4D9D-4FB9-950A-7DEBBE0C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82F258-EA58-4476-80B5-51385058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C9B0"/>
          </a:solidFill>
          <a:ln xmlns:a="http://schemas.openxmlformats.org/drawingml/2006/main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1F3C7D-1681-44C5-962F-5FEFE643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9B0"/>
                </a:solidFill>
                <a:latin typeface="PingFang SC"/>
                <a:ea typeface="PingFang SC"/>
                <a:cs typeface="PingFang SC"/>
              </a:defRPr>
            </a:pPr>
            <a:r>
              <a:t>CODE EDITOR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8EDF2B-9399-4FCE-A8EB-75D6B5C6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572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代码编辑器把抽象的内存变化变成可播放画布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A31C31-57E0-4F1E-BBBD-04617AF4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838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现场展示一段较长示例代码：运行后自动播放，观察栈、堆、指针和对象关系如何变化。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5EE097-1960-4316-8C82-FCAB52EB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61912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F141B"/>
          </a:solidFill>
          <a:ln xmlns:a="http://schemas.openxmlformats.org/drawingml/2006/main" w="19050">
            <a:solidFill>
              <a:srgbClr val="569C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007A8D-928C-41FA-8C19-EC87C728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67050"/>
            <a:ext cx="6858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569CD6"/>
                </a:solidFill>
                <a:latin typeface="PingFang SC"/>
                <a:ea typeface="PingFang SC"/>
                <a:cs typeface="PingFang SC"/>
              </a:defRPr>
            </a:pPr>
            <a:r>
              <a:t>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EDDD09-B8F0-4F40-8397-92327D03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7175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9CD6"/>
                </a:solidFill>
                <a:latin typeface="PingFang SC"/>
                <a:ea typeface="PingFang SC"/>
                <a:cs typeface="PingFang SC"/>
              </a:defRPr>
            </a:pPr>
            <a:r>
              <a:t>演示画面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561CB0-5EFD-4F9A-B59C-16002DDB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29100"/>
            <a:ext cx="5429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示例代码 → 运行 → 自动播放内存变化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8C76B5-D2DD-49B1-9A54-812E80EE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86300"/>
            <a:ext cx="485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栈帧、堆块、指针引用、对象成员、多层嵌套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CA26BD-6EDC-40F2-97B4-D6FB9EB2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90750"/>
            <a:ext cx="314325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2E35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E6C3E8-08EF-47C2-98D0-B858187C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95550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画布阅读顺序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2DA86A-267F-43AC-92D3-0E7B94B7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33700"/>
            <a:ext cx="26098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161F"/>
          </a:solidFill>
          <a:ln xmlns:a="http://schemas.openxmlformats.org/drawingml/2006/main" w="9525">
            <a:solidFill>
              <a:srgbClr val="2E354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256F5F-316B-4EF7-B0AF-1291058C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24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9CD6"/>
          </a:solidFill>
          <a:ln xmlns:a="http://schemas.openxmlformats.org/drawingml/2006/main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6947F1-8745-406B-B652-A6FE3112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24200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E8A533-56FC-4F7D-89F7-961FC01E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67050"/>
            <a:ext cx="1828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变量在哪里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733AA2-CB70-4BB0-984A-A2C5A738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71850"/>
            <a:ext cx="1828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蓝色栈帧展示局部变量。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F411C4-5DC5-475E-BCD3-05A7764A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24300"/>
            <a:ext cx="26098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161F"/>
          </a:solidFill>
          <a:ln xmlns:a="http://schemas.openxmlformats.org/drawingml/2006/main" w="9525">
            <a:solidFill>
              <a:srgbClr val="2E354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C60F3E-D95E-40B2-89A7-375A450F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14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E9178"/>
          </a:solidFill>
          <a:ln xmlns:a="http://schemas.openxmlformats.org/drawingml/2006/main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710312-975B-402C-AC20-D9805245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14800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9A1E77-656F-4CCB-9696-7B559467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57650"/>
            <a:ext cx="1828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对象在哪里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377E56-1545-4229-AA3A-72A6F044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62450"/>
            <a:ext cx="1828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橙色堆块展示 new、对象和容器。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22E968-0E85-4D35-9398-254AD8F3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26098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161F"/>
          </a:solidFill>
          <a:ln xmlns:a="http://schemas.openxmlformats.org/drawingml/2006/main" w="9525">
            <a:solidFill>
              <a:srgbClr val="2E354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B64D2A-DD3E-4645-A967-E9C9C5A9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05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A4B2"/>
          </a:solidFill>
          <a:ln xmlns:a="http://schemas.openxmlformats.org/drawingml/2006/main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A899B1-62D8-49AB-B04F-4B7AC4E8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05400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172D3D-AA18-4B80-B560-D30EDBA6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48250"/>
            <a:ext cx="1828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谁指向谁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6E87E5-E80E-4EB5-A55E-29E05968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353050"/>
            <a:ext cx="1828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箭头展示引用关系，悬空时变红。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02D232-11B0-4C13-816E-D591B25B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67113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4B2"/>
          </a:solidFill>
          <a:ln xmlns:a="http://schemas.openxmlformats.org/drawingml/2006/main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D63ED3-DF88-435F-985A-DB6ACF47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533775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9AA4B2"/>
          </a:solidFill>
          <a:ln xmlns:a="http://schemas.openxmlformats.org/drawingml/2006/main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DA7BD0-2088-4C77-91B7-D60D5036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62600"/>
            <a:ext cx="9258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161F"/>
          </a:solidFill>
          <a:ln xmlns:a="http://schemas.openxmlformats.org/drawingml/2006/main" w="9525">
            <a:solidFill>
              <a:srgbClr val="2E354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66BFE1-79B0-4555-B917-CB65A052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7912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C9B0"/>
          </a:solidFill>
          <a:ln xmlns:a="http://schemas.openxmlformats.org/drawingml/2006/main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3CAEA6-D5C4-40FC-AD47-5B07ED09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69595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这一页是路演核心：观众要看到代码运行过程中的内存状态如何逐步变化。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81EC7F-2FE0-4765-8FEF-A7458226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3890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7784"/>
                </a:solidFill>
                <a:latin typeface="PingFang SC"/>
                <a:ea typeface="PingFang SC"/>
                <a:cs typeface="PingFang SC"/>
              </a:defRPr>
            </a:pPr>
            <a:r>
              <a:t>C++工作台 · 04/09</a:t>
            </a:r>
          </a:p>
        </p:txBody>
      </p:sp>
    </p:spTree>
    <p:extLst>
      <p:ext uri="{BB962C8B-B14F-4D97-AF65-F5344CB8AC3E}">
        <p14:creationId xmlns:p14="http://schemas.microsoft.com/office/powerpoint/2010/main" val="9871701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4364FC-5727-4AB1-A2DA-AD7784E6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D0FA5F-12D4-49F9-9378-204ADFA8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22F9FA-4DD7-44D4-9AB1-A4B0E6CB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4926FE-8238-472B-8854-89421BDE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18691B-485E-4A54-B00D-05E01E3B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05ECD-2DE4-4566-8046-431621AB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6E592-1B34-42F0-8E50-97390F90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3D71BD-BD34-488C-A203-C5586B37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6FCCC9-DFF1-40AF-AA4E-8F0B4446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DBDA25-F135-4F29-8C9D-DF175BED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9178"/>
          </a:solidFill>
          <a:ln xmlns:a="http://schemas.openxmlformats.org/drawingml/2006/main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B846F3-98D6-4F82-96AD-9D79940E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E9178"/>
                </a:solidFill>
                <a:latin typeface="PingFang SC"/>
                <a:ea typeface="PingFang SC"/>
                <a:cs typeface="PingFang SC"/>
              </a:defRPr>
            </a:pPr>
            <a:r>
              <a:t>OJ 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D925BE-BAC5-4C63-9BC6-3FBC1BF2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334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OJ 分析把解题指导、代码测试和复习入口放在同一流程里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EB8226-300B-4A23-8F85-85FE79F7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838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展示一个简单题目即可：粘贴题面和代码，开始分析，随后查看解释、测试、加入复习和发送到可视化。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5C6AB9-7159-441B-A97A-7A3BF4C7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61912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F141B"/>
          </a:solidFill>
          <a:ln xmlns:a="http://schemas.openxmlformats.org/drawingml/2006/main" w="19050">
            <a:solidFill>
              <a:srgbClr val="CE91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5D39F5-5BE8-4417-A552-34048807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67050"/>
            <a:ext cx="6858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CE9178"/>
                </a:solidFill>
                <a:latin typeface="PingFang SC"/>
                <a:ea typeface="PingFang SC"/>
                <a:cs typeface="PingFang SC"/>
              </a:defRPr>
            </a:pPr>
            <a:r>
              <a:t>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9695AC-ECBB-4CA7-BA8B-B51BE7C2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7175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E9178"/>
                </a:solidFill>
                <a:latin typeface="PingFang SC"/>
                <a:ea typeface="PingFang SC"/>
                <a:cs typeface="PingFang SC"/>
              </a:defRPr>
            </a:pPr>
            <a:r>
              <a:t>演示画面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309101-2520-460F-A4EC-A7A4FE17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29100"/>
            <a:ext cx="5429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题面 + 代码 → AI 分析 → 一键可视化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F76DDB-8EBE-46D0-AC05-0EF74A3A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86300"/>
            <a:ext cx="485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题目思路、知识点、复杂度、常见错误、参考代码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2200EB-AAC2-4E3F-9886-573627DB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81250"/>
            <a:ext cx="3143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161F"/>
          </a:solidFill>
          <a:ln xmlns:a="http://schemas.openxmlformats.org/drawingml/2006/main" w="9525">
            <a:solidFill>
              <a:srgbClr val="2E35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324353-EF55-440F-8925-D473EC00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71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9CD6"/>
          </a:solidFill>
          <a:ln xmlns:a="http://schemas.openxmlformats.org/drawingml/2006/main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77703C-E98B-4780-97D2-67D72B62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71750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984025-4FAB-4EC4-B59C-5061CE0A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14600"/>
            <a:ext cx="2362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先理解题目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6B6A17-D9BA-4717-B26E-6E5262CF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19400"/>
            <a:ext cx="2362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生成思路、复杂度、知识点和参考代码。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2E07F9-E900-4DB7-8D63-9765AB41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48050"/>
            <a:ext cx="3143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161F"/>
          </a:solidFill>
          <a:ln xmlns:a="http://schemas.openxmlformats.org/drawingml/2006/main" w="9525">
            <a:solidFill>
              <a:srgbClr val="2E354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54E787-0A40-45D5-B126-A189663C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38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C9B0"/>
          </a:solidFill>
          <a:ln xmlns:a="http://schemas.openxmlformats.org/drawingml/2006/main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43E72E-6F3B-48A5-AFCC-31A41D64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38550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F58D3E-CEC7-44F1-9846-65C2B57D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81400"/>
            <a:ext cx="2362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再验证代码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268F8C-DB33-4691-9FA3-8E0389F3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86200"/>
            <a:ext cx="2362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调用本地编译器，用测试用例检查输出。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460B09-5C55-4C47-A241-9C1B1B7D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14850"/>
            <a:ext cx="3143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161F"/>
          </a:solidFill>
          <a:ln xmlns:a="http://schemas.openxmlformats.org/drawingml/2006/main" w="9525">
            <a:solidFill>
              <a:srgbClr val="2E354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2B2321-63D2-4032-8D70-FB366938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705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7B6158-AD43-4479-A6CE-62239EDC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705350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D8B164-B343-4E1B-96CB-6E385B5D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48200"/>
            <a:ext cx="2362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最后沉淀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77DC8E-A0B6-4185-977C-4AEA6335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53000"/>
            <a:ext cx="2362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知识点加入复习，代码可发送到可视化区域。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084C19-7300-43EB-B153-AB4D44E0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62600"/>
            <a:ext cx="9258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161F"/>
          </a:solidFill>
          <a:ln xmlns:a="http://schemas.openxmlformats.org/drawingml/2006/main" w="9525">
            <a:solidFill>
              <a:srgbClr val="2E354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B70FB7-CE04-4946-A401-EF389986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7912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9178"/>
          </a:solidFill>
          <a:ln xmlns:a="http://schemas.openxmlformats.org/drawingml/2006/main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F79FBB-9951-4AF1-9998-8D662B32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69595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OJ 页的价值不是给答案，而是把解题过程接到测试和长期复习。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EC1978-1E1E-4415-A742-1C04D19F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3890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7784"/>
                </a:solidFill>
                <a:latin typeface="PingFang SC"/>
                <a:ea typeface="PingFang SC"/>
                <a:cs typeface="PingFang SC"/>
              </a:defRPr>
            </a:pPr>
            <a:r>
              <a:t>C++工作台 · 05/09</a:t>
            </a:r>
          </a:p>
        </p:txBody>
      </p:sp>
    </p:spTree>
    <p:extLst>
      <p:ext uri="{BB962C8B-B14F-4D97-AF65-F5344CB8AC3E}">
        <p14:creationId xmlns:p14="http://schemas.microsoft.com/office/powerpoint/2010/main" val="17244167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A32193-21FD-46D9-8677-60D6B46B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B1C30-33FC-430F-8050-DE848398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8F3468-7815-49F5-AF6F-B4E666CF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03976-C79E-4C37-AC20-E262D730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30B52-4F96-4BAD-89CE-40B5ECCC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3CC3D-4C93-4943-9D97-29BC7E4A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105FD6-C32B-49E3-874F-E78EC7E3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5F52D-ADA9-4418-80C4-DFAD2AF1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AFA908-DB9F-49AB-9FA9-6006893D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4DB20E-ED0F-4B41-946F-03392AA1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2C822-42DE-435B-92C0-4E1F28F1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PingFang SC"/>
                <a:ea typeface="PingFang SC"/>
                <a:cs typeface="PingFang SC"/>
              </a:defRPr>
            </a:pPr>
            <a:r>
              <a:t>FILE IMPORT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D804DD-FABC-4161-94F9-0DEF8DEA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763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文件导入把讲义、作业和代码整理成可练习材料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CE863A-BC7F-4DC0-9ED3-CA339FD4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838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用 PDF 举例最直观：上传文件后提取知识点，生成练习题，再把结果加入知识库或错题复习。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953E72-0A74-413D-A559-6759F183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61912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F141B"/>
          </a:solidFill>
          <a:ln xmlns:a="http://schemas.openxmlformats.org/drawingml/2006/main" w="19050">
            <a:solidFill>
              <a:srgbClr val="FFD1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4F5258-650C-46D5-99A3-B59BCA5B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67050"/>
            <a:ext cx="6858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D166"/>
                </a:solidFill>
                <a:latin typeface="PingFang SC"/>
                <a:ea typeface="PingFang SC"/>
                <a:cs typeface="PingFang SC"/>
              </a:defRPr>
            </a:pPr>
            <a:r>
              <a:t>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06E359-78D8-4038-8B8D-7562904C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7175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D166"/>
                </a:solidFill>
                <a:latin typeface="PingFang SC"/>
                <a:ea typeface="PingFang SC"/>
                <a:cs typeface="PingFang SC"/>
              </a:defRPr>
            </a:pPr>
            <a:r>
              <a:t>演示画面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EEFD2A-0E37-413B-BB4C-281241FE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29100"/>
            <a:ext cx="5429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上传多格式课程文件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175F38-12C6-4E41-952D-3CB0EE5B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86300"/>
            <a:ext cx="485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提取知识点、代码片段和基础练习题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9201B6-7CB7-4120-971C-515FBE14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81250"/>
            <a:ext cx="3143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161F"/>
          </a:solidFill>
          <a:ln xmlns:a="http://schemas.openxmlformats.org/drawingml/2006/main" w="9525">
            <a:solidFill>
              <a:srgbClr val="2E35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CD165B-FB12-411C-B585-C79150DA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71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BA7CDF-491E-4DD6-A60A-65017FFC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71750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C75595-0BAD-4A35-B8C5-FFB6A581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14600"/>
            <a:ext cx="2362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抽取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D52593-5947-4579-8AAA-374E8409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19400"/>
            <a:ext cx="2362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从文件中提取文本、代码片段和关键知识点。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80F306-4588-4FC8-9045-2D71A327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48050"/>
            <a:ext cx="3143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161F"/>
          </a:solidFill>
          <a:ln xmlns:a="http://schemas.openxmlformats.org/drawingml/2006/main" w="9525">
            <a:solidFill>
              <a:srgbClr val="2E354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674513-AB97-4AD3-9ACE-9EA89D4E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38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C9B0"/>
          </a:solidFill>
          <a:ln xmlns:a="http://schemas.openxmlformats.org/drawingml/2006/main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975486-278F-48CF-A952-D4DC75A3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38550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2E5946-A72E-4B39-84F6-A57AD8EC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81400"/>
            <a:ext cx="2362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练习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DC2AF7-52FC-42F6-9E1F-AF547181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86200"/>
            <a:ext cx="2362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下方生成基础练习题，现场检验理解。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8BBB87-54E1-4A86-B638-6F20AC03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14850"/>
            <a:ext cx="3143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161F"/>
          </a:solidFill>
          <a:ln xmlns:a="http://schemas.openxmlformats.org/drawingml/2006/main" w="9525">
            <a:solidFill>
              <a:srgbClr val="2E354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B8CE1C-1FAF-45A1-8DEE-8EE63070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705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E9178"/>
          </a:solidFill>
          <a:ln xmlns:a="http://schemas.openxmlformats.org/drawingml/2006/main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5864E2-B0C6-4CBD-BDB6-39861FE0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705350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0595F2-5EC2-4774-93E0-79DD7F1F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48200"/>
            <a:ext cx="2362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入库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205ACC-9373-4C55-8A03-D6C29400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53000"/>
            <a:ext cx="2362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知识点进入知识库，错题进入复习系统。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B4461E-2E7F-4DF5-9CD9-15864726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62600"/>
            <a:ext cx="9258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161F"/>
          </a:solidFill>
          <a:ln xmlns:a="http://schemas.openxmlformats.org/drawingml/2006/main" w="9525">
            <a:solidFill>
              <a:srgbClr val="2E354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BB4090-FAC7-4107-B0D8-EE92B8C9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7912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38E23D-1AA6-4974-BC04-26BFFC00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69595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这一页展示的是学习资料入口：课程材料可以被转成可复习的知识点。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683683-1D8D-4B0E-B0ED-BA184E15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3890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7784"/>
                </a:solidFill>
                <a:latin typeface="PingFang SC"/>
                <a:ea typeface="PingFang SC"/>
                <a:cs typeface="PingFang SC"/>
              </a:defRPr>
            </a:pPr>
            <a:r>
              <a:t>C++工作台 · 06/09</a:t>
            </a:r>
          </a:p>
        </p:txBody>
      </p:sp>
    </p:spTree>
    <p:extLst>
      <p:ext uri="{BB962C8B-B14F-4D97-AF65-F5344CB8AC3E}">
        <p14:creationId xmlns:p14="http://schemas.microsoft.com/office/powerpoint/2010/main" val="62264881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DB613F-1971-42C6-A4E2-2F68256D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89D8B1-1D9A-4990-903F-14B44642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64CDEF-9FE7-4BFE-8165-BE2CF443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B7FE6-0A10-4D61-8593-1C4AAB10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7DE2DD-E24F-401B-81DC-F54D71D1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E0812E-C31E-4785-96EA-A7A803AD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20027-9B65-4C86-8C41-4A19F548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BFC517-B2FF-4461-BE86-60F3C1A1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0E483E-0B98-4001-AFDE-44D97CA1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0F034F-66CC-4425-AAB7-4DEA1D2B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C9B0"/>
          </a:solidFill>
          <a:ln xmlns:a="http://schemas.openxmlformats.org/drawingml/2006/main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82D724-2907-413F-BE3C-075CB0B3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9B0"/>
                </a:solidFill>
                <a:latin typeface="PingFang SC"/>
                <a:ea typeface="PingFang SC"/>
                <a:cs typeface="PingFang SC"/>
              </a:defRPr>
            </a:pPr>
            <a:r>
              <a:t>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DE8825-18F2-488E-828B-A4657D5A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7810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错题复习让学习不止停在一次讲解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0A0366-D637-4247-BDB4-7244A82F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838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展示分类加载、AI 提示、显示答案、写心得和难度评价；难度会影响之后复习频率。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2E1325-D78E-48D1-955A-6A82B204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95300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4EC9B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46508E-1D17-43C1-9BCF-349702AC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00300"/>
            <a:ext cx="190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EC9B0"/>
                </a:solidFill>
                <a:latin typeface="PingFang SC"/>
                <a:ea typeface="PingFang SC"/>
                <a:cs typeface="PingFang SC"/>
              </a:defRPr>
            </a:pPr>
            <a:r>
              <a:t>错题卡片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5E7F9C-2608-475B-81EF-DA338D2F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1940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C9B0"/>
          </a:solidFill>
          <a:ln xmlns:a="http://schemas.openxmlformats.org/drawingml/2006/main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D20F44-01E7-49B8-98F5-D9A8147F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67050"/>
            <a:ext cx="1619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题面</a:t>
            </a:r>
          </a:p>
          <a:p xmlns:a="http://schemas.openxmlformats.org/drawingml/2006/main">
            <a:pPr algn="ctr">
              <a:defRPr sz="180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AI 提示</a:t>
            </a:r>
          </a:p>
          <a:p xmlns:a="http://schemas.openxmlformats.org/drawingml/2006/main">
            <a:pPr algn="ctr">
              <a:defRPr sz="180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显示答案</a:t>
            </a:r>
          </a:p>
          <a:p xmlns:a="http://schemas.openxmlformats.org/drawingml/2006/main">
            <a:pPr algn="ctr">
              <a:defRPr sz="180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学习笔记</a:t>
            </a:r>
          </a:p>
          <a:p xmlns:a="http://schemas.openxmlformats.org/drawingml/2006/main">
            <a:pPr algn="ctr">
              <a:defRPr sz="180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难度评价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02E0A2-0FAE-4343-99A2-A084701C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14750"/>
            <a:ext cx="2190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从“看答案”变成“先被引导，再记录理解，再决定下次复习频率”。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989BFC-200C-44FD-B1CC-4EC0CB45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81250"/>
            <a:ext cx="3143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161F"/>
          </a:solidFill>
          <a:ln xmlns:a="http://schemas.openxmlformats.org/drawingml/2006/main" w="9525">
            <a:solidFill>
              <a:srgbClr val="2E35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AA67B9-F1B7-4501-9E66-E08494D5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71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9CD6"/>
          </a:solidFill>
          <a:ln xmlns:a="http://schemas.openxmlformats.org/drawingml/2006/main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15B143-0AD8-47B4-9FD0-0066B0CB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71750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1D377E-0207-4038-A061-3692580E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14600"/>
            <a:ext cx="2362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分类加载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E4A460-1297-4C29-8FB0-E767BA59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19400"/>
            <a:ext cx="2362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按指针、面向对象、STL、基础语法等牌组复习。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4AFB37-092C-4502-9259-8618A8E2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48050"/>
            <a:ext cx="3143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161F"/>
          </a:solidFill>
          <a:ln xmlns:a="http://schemas.openxmlformats.org/drawingml/2006/main" w="9525">
            <a:solidFill>
              <a:srgbClr val="2E354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0E9A6E-37F6-4FA4-B9C2-90BB22DE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638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E9178"/>
          </a:solidFill>
          <a:ln xmlns:a="http://schemas.openxmlformats.org/drawingml/2006/main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4CF43D-D06C-429A-B737-6B94B5A2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638550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D497E8-15D4-4C87-9272-FF9B406F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81400"/>
            <a:ext cx="2362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提示优先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4C8C54-5B6A-423B-BA59-9E660067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886200"/>
            <a:ext cx="2362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AI 先给引导，不直接打断思考过程。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E0F788-FA1F-427F-BA60-1EF004C7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14850"/>
            <a:ext cx="3143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161F"/>
          </a:solidFill>
          <a:ln xmlns:a="http://schemas.openxmlformats.org/drawingml/2006/main" w="9525">
            <a:solidFill>
              <a:srgbClr val="2E354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A17595-0003-416F-A6E6-A6D08FFF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05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7E8DBA-0BD0-4CD0-A808-307FE53A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05350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88D9B6-2BD7-4EFC-AAAA-968F43F2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648200"/>
            <a:ext cx="2362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手动整理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5BAEFF-4F72-4F9B-8D0F-8C26936B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953000"/>
            <a:ext cx="2362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也可以把自己的错题统一加入系统。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BEAB16-5281-4240-AAB3-1BA60D13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62600"/>
            <a:ext cx="9258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161F"/>
          </a:solidFill>
          <a:ln xmlns:a="http://schemas.openxmlformats.org/drawingml/2006/main" w="9525">
            <a:solidFill>
              <a:srgbClr val="2E354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78366F-2CA5-4D15-80F6-3CE7E0F1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7912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C9B0"/>
          </a:solidFill>
          <a:ln xmlns:a="http://schemas.openxmlformats.org/drawingml/2006/main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74FBCA-FD4B-4EDD-9697-73F1716F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69595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错题页是闭环的核心：它决定学习材料是否能在之后继续发挥作用。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9A1582-CA15-4E1A-A811-7D68E46B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3890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7784"/>
                </a:solidFill>
                <a:latin typeface="PingFang SC"/>
                <a:ea typeface="PingFang SC"/>
                <a:cs typeface="PingFang SC"/>
              </a:defRPr>
            </a:pPr>
            <a:r>
              <a:t>C++工作台 · 07/09</a:t>
            </a:r>
          </a:p>
        </p:txBody>
      </p:sp>
    </p:spTree>
    <p:extLst>
      <p:ext uri="{BB962C8B-B14F-4D97-AF65-F5344CB8AC3E}">
        <p14:creationId xmlns:p14="http://schemas.microsoft.com/office/powerpoint/2010/main" val="82946531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FF4C6F-7368-4F2F-8A16-897C9F8A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CBE9F-206A-41DC-A808-BA3F10A0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447BE-2B9E-4722-8CE1-ACCB14E4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677230-E11B-4B52-BB86-D2E2053F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933BC-8B71-43DA-8BCC-362B0A89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AB4B7E-96AE-4CFF-AD6F-99DCDBE0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2FFEF-7830-417A-A05E-CBAB94B5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1803DD-2651-44E2-99E7-FCD864C6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D2F5A7-6F01-44BA-BB0D-73BA4B83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AD0EF5-AA35-4A48-9A75-19D4A427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9CD6"/>
          </a:solidFill>
          <a:ln xmlns:a="http://schemas.openxmlformats.org/drawingml/2006/main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411E83-0165-4661-9471-F8B4406C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9CD6"/>
                </a:solidFill>
                <a:latin typeface="PingFang SC"/>
                <a:ea typeface="PingFang SC"/>
                <a:cs typeface="PingFang SC"/>
              </a:defRPr>
            </a:pPr>
            <a:r>
              <a:t>KNOWLEDGE 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2A69B2-B280-4EA0-9EE3-E3ACE882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334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知识库把分散知识沉淀成可浏览、可测试、可关联的结构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76EAC5-A352-4C4E-AF0B-FD5D7059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838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先展示列表，再点开知识点详情，最后切到图谱视图查看关联关系。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FFDE4B-9D58-4360-B9B9-EF5E63ED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2571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0161F"/>
          </a:solidFill>
          <a:ln xmlns:a="http://schemas.openxmlformats.org/drawingml/2006/main" w="14288">
            <a:solidFill>
              <a:srgbClr val="569C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7E6BCE-5887-4AEF-836D-FEB4536A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43200"/>
            <a:ext cx="2228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9CD6"/>
                </a:solidFill>
                <a:latin typeface="PingFang SC"/>
                <a:ea typeface="PingFang SC"/>
                <a:cs typeface="PingFang SC"/>
              </a:defRPr>
            </a:pPr>
            <a:r>
              <a:t>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33AF48-86A4-4BC2-ACDD-E8169D36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09900"/>
            <a:ext cx="2228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列表视图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09BBF1-49B3-40D0-8ACC-41A891B8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2228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浏览、搜索、整理所有入库知识点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09BF84-0A33-4E4C-9E0C-49A864C7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09850"/>
            <a:ext cx="2571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0161F"/>
          </a:solidFill>
          <a:ln xmlns:a="http://schemas.openxmlformats.org/drawingml/2006/main" w="14288">
            <a:solidFill>
              <a:srgbClr val="4EC9B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FA4869-DCA9-4B0F-B9D4-6453156D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43200"/>
            <a:ext cx="2228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9B0"/>
                </a:solidFill>
                <a:latin typeface="PingFang SC"/>
                <a:ea typeface="PingFang SC"/>
                <a:cs typeface="PingFang SC"/>
              </a:defRPr>
            </a:pPr>
            <a:r>
              <a:t>LEARN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F34C25-DB4D-4707-95AC-A76F0F79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09900"/>
            <a:ext cx="2228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知识点详情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1E23E2-BD4C-4CDA-A5E0-3B670E71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352800"/>
            <a:ext cx="2228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31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查看讲解，一键加入复习或生成小测验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C94AAC-9166-433B-A789-D829F6E9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09850"/>
            <a:ext cx="2571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0161F"/>
          </a:solidFill>
          <a:ln xmlns:a="http://schemas.openxmlformats.org/drawingml/2006/main" w="14288">
            <a:solidFill>
              <a:srgbClr val="CE917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1DC8E2-2593-4F6C-AC74-85B9ADEB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43200"/>
            <a:ext cx="2228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E9178"/>
                </a:solidFill>
                <a:latin typeface="PingFang SC"/>
                <a:ea typeface="PingFang SC"/>
                <a:cs typeface="PingFang SC"/>
              </a:defRPr>
            </a:pPr>
            <a:r>
              <a:t>CONNECT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1E33CE-0BAD-48D7-832E-5AED113A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09900"/>
            <a:ext cx="2228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图谱视图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CE2356-AB54-4CEC-970E-5B905D8F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52800"/>
            <a:ext cx="2228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聚集显示知识点，点击节点继续查看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F1011D-E0C9-496C-AF0B-093B408E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67063"/>
            <a:ext cx="1200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4B2"/>
          </a:solidFill>
          <a:ln xmlns:a="http://schemas.openxmlformats.org/drawingml/2006/main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63678F-EFAA-4F1A-828D-023823CA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133725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9AA4B2"/>
          </a:solidFill>
          <a:ln xmlns:a="http://schemas.openxmlformats.org/drawingml/2006/main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837F4B-2845-4D7D-9CA1-FC0B2500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67063"/>
            <a:ext cx="1200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4B2"/>
          </a:solidFill>
          <a:ln xmlns:a="http://schemas.openxmlformats.org/drawingml/2006/main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8A79AB-B59D-4010-8CB7-E63FCFD7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133725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9AA4B2"/>
          </a:solidFill>
          <a:ln xmlns:a="http://schemas.openxmlformats.org/drawingml/2006/main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68E6D7-F1E1-4DE1-A0CF-B5A246BB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514850"/>
            <a:ext cx="8343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61F"/>
          </a:solidFill>
          <a:ln xmlns:a="http://schemas.openxmlformats.org/drawingml/2006/main" w="9525">
            <a:solidFill>
              <a:srgbClr val="2E354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18F186-5869-452F-93F8-680342BF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24400"/>
            <a:ext cx="742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相比单纯文档，知识库更适合不断补充、复习，并回到具体代码场景。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2CFE55-952E-4FE8-8289-C76C0AA2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62600"/>
            <a:ext cx="9258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161F"/>
          </a:solidFill>
          <a:ln xmlns:a="http://schemas.openxmlformats.org/drawingml/2006/main" w="9525">
            <a:solidFill>
              <a:srgbClr val="2E354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2CE303-6379-4548-9B78-4EE47460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7912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9CD6"/>
          </a:solidFill>
          <a:ln xmlns:a="http://schemas.openxmlformats.org/drawingml/2006/main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06D222-98D5-4E6C-97C4-94BD76E8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69595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知识库负责沉淀，图谱负责帮助观众看到知识点之间的连接。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BE194D-A59F-4026-A85A-590D3F54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3890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7784"/>
                </a:solidFill>
                <a:latin typeface="PingFang SC"/>
                <a:ea typeface="PingFang SC"/>
                <a:cs typeface="PingFang SC"/>
              </a:defRPr>
            </a:pPr>
            <a:r>
              <a:t>C++工作台 · 08/09</a:t>
            </a:r>
          </a:p>
        </p:txBody>
      </p:sp>
    </p:spTree>
    <p:extLst>
      <p:ext uri="{BB962C8B-B14F-4D97-AF65-F5344CB8AC3E}">
        <p14:creationId xmlns:p14="http://schemas.microsoft.com/office/powerpoint/2010/main" val="5702539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FED811-D974-4715-A558-E2614042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24638-9B7E-45FA-943F-0C74252F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7DDBE-A2B2-496E-93C0-AEDF37B5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925998-724D-4F13-82D1-561A4D99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8C09F9-7E95-464E-9734-65C6FDDE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2F6AB-6680-4449-A627-5A8AE88B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50E2B2-C98E-4D09-80A9-A7871ED0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E5356-7D02-49D7-B95E-B81E6E6F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F71F92-0E63-4550-BA41-B2C6640D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87630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311DC8-F6EA-403A-A977-31426FBA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C9B0"/>
          </a:solidFill>
          <a:ln xmlns:a="http://schemas.openxmlformats.org/drawingml/2006/main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02BF38-2250-4FF0-8106-E9D88400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9B0"/>
                </a:solidFill>
                <a:latin typeface="PingFang SC"/>
                <a:ea typeface="PingFang SC"/>
                <a:cs typeface="PingFang SC"/>
              </a:defRPr>
            </a:pPr>
            <a:r>
              <a:t>SUMMARY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AF64F9-F384-46F6-A4AC-1AFAB3B7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953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项目的价值在于把 AI 辅助从一次回答变成持续体验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7F5767-113C-4EF0-829F-91BE2D1F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838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从代码执行、OJ 分析、文件导入，到错题复习和知识库，最终都回到一个学习闭环。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5C0895-8209-4AE1-B67F-B0320CC7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52700"/>
            <a:ext cx="2381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0161F"/>
          </a:solidFill>
          <a:ln xmlns:a="http://schemas.openxmlformats.org/drawingml/2006/main" w="9525">
            <a:solidFill>
              <a:srgbClr val="569C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BD4575-2E2E-4591-9E83-91C5BE2D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47950"/>
            <a:ext cx="2038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69CD6"/>
                </a:solidFill>
                <a:latin typeface="PingFang SC"/>
                <a:ea typeface="PingFang SC"/>
                <a:cs typeface="PingFang SC"/>
              </a:defRPr>
            </a:pPr>
            <a:r>
              <a:t>实用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75048E-4CB1-4DDF-918D-1A95F367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09900"/>
            <a:ext cx="2038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围绕真实 C++ 学习流程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9931FD-418B-4312-BE06-D0694069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52700"/>
            <a:ext cx="2381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0161F"/>
          </a:solidFill>
          <a:ln xmlns:a="http://schemas.openxmlformats.org/drawingml/2006/main" w="9525">
            <a:solidFill>
              <a:srgbClr val="CE917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54A904-4ECF-4C1B-8E35-BA0A4EBA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47950"/>
            <a:ext cx="2038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E9178"/>
                </a:solidFill>
                <a:latin typeface="PingFang SC"/>
                <a:ea typeface="PingFang SC"/>
                <a:cs typeface="PingFang SC"/>
              </a:defRPr>
            </a:pPr>
            <a:r>
              <a:t>直观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824AF3-8E6E-42A2-94D9-50EC153E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09900"/>
            <a:ext cx="2038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把内存变化画出来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011217-F491-4858-BAD1-7AA22B3F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52700"/>
            <a:ext cx="2381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0161F"/>
          </a:solidFill>
          <a:ln xmlns:a="http://schemas.openxmlformats.org/drawingml/2006/main" w="9525">
            <a:solidFill>
              <a:srgbClr val="4EC9B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C6FC2D-AD33-4E23-975D-6E44869F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47950"/>
            <a:ext cx="2038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EC9B0"/>
                </a:solidFill>
                <a:latin typeface="PingFang SC"/>
                <a:ea typeface="PingFang SC"/>
                <a:cs typeface="PingFang SC"/>
              </a:defRPr>
            </a:pPr>
            <a:r>
              <a:t>持续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92B7EE-B8C7-41CC-A18A-8BF174DF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09900"/>
            <a:ext cx="2038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0BD"/>
                </a:solidFill>
                <a:latin typeface="PingFang SC"/>
                <a:ea typeface="PingFang SC"/>
                <a:cs typeface="PingFang SC"/>
              </a:defRPr>
            </a:pPr>
            <a:r>
              <a:t>错题和知识点能沉淀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989496-EAA4-4FDD-8C2F-96ADC54A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10050"/>
            <a:ext cx="88392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21722"/>
          </a:solidFill>
          <a:ln xmlns:a="http://schemas.openxmlformats.org/drawingml/2006/main" w="9525">
            <a:solidFill>
              <a:srgbClr val="2E354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53AAD5-63A5-4454-A796-F074EFC1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14850"/>
            <a:ext cx="781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它不追求堆砌功能，而是帮助学生看懂代码运行过程，并把学习结果留下来。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70C766-15A1-4EE7-B47F-BCA67673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010150"/>
            <a:ext cx="487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C9B0"/>
          </a:solidFill>
          <a:ln xmlns:a="http://schemas.openxmlformats.org/drawingml/2006/main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3074D7-5E9F-4416-9634-530B4011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62600"/>
            <a:ext cx="9258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161F"/>
          </a:solidFill>
          <a:ln xmlns:a="http://schemas.openxmlformats.org/drawingml/2006/main" w="9525">
            <a:solidFill>
              <a:srgbClr val="2E354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CD5117-AA31-4D48-A4E4-765741AC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7912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C9B0"/>
          </a:solidFill>
          <a:ln xmlns:a="http://schemas.openxmlformats.org/drawingml/2006/main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2B6523-C2F9-49DF-90F4-09D43056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69595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7FA"/>
                </a:solidFill>
                <a:latin typeface="PingFang SC"/>
                <a:ea typeface="PingFang SC"/>
                <a:cs typeface="PingFang SC"/>
              </a:defRPr>
            </a:pPr>
            <a:r>
              <a:t>如果它能在真实学习中节省一次卡住的时间，这个工具就有意义。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46B90C-7905-4581-BAA3-B733B198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3890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7784"/>
                </a:solidFill>
                <a:latin typeface="PingFang SC"/>
                <a:ea typeface="PingFang SC"/>
                <a:cs typeface="PingFang SC"/>
              </a:defRPr>
            </a:pPr>
            <a:r>
              <a:t>C++工作台 · 09/09</a:t>
            </a:r>
          </a:p>
        </p:txBody>
      </p:sp>
    </p:spTree>
    <p:extLst>
      <p:ext uri="{BB962C8B-B14F-4D97-AF65-F5344CB8AC3E}">
        <p14:creationId xmlns:p14="http://schemas.microsoft.com/office/powerpoint/2010/main" val="17772134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2026-06-09T11:24:02.6600000Z</dcterms:created>
  <dcterms:modified xsi:type="dcterms:W3CDTF">2026-06-09T11:24:02.6600000Z</dcterms:modified>
</coreProperties>
</file>